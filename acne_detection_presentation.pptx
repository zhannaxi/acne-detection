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18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" sz="1300" b="0" i="0" u="none" strike="noStrike">
                <a:solidFill>
                  <a:srgbClr val="000000"/>
                </a:solidFill>
                <a:latin typeface="Arial"/>
              </a:rPr>
              <a:t>Accuracy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44.8</c:v>
                </c:pt>
                <c:pt idx="1">
                  <c:v>72.400000000000006</c:v>
                </c:pt>
                <c:pt idx="2">
                  <c:v>90.7</c:v>
                </c:pt>
                <c:pt idx="3">
                  <c:v>96.1</c:v>
                </c:pt>
                <c:pt idx="4">
                  <c:v>96.7</c:v>
                </c:pt>
                <c:pt idx="5">
                  <c:v>98.5</c:v>
                </c:pt>
                <c:pt idx="6">
                  <c:v>98.6</c:v>
                </c:pt>
                <c:pt idx="7">
                  <c:v>99.2</c:v>
                </c:pt>
                <c:pt idx="8">
                  <c:v>99.2</c:v>
                </c:pt>
                <c:pt idx="9">
                  <c:v>99.1</c:v>
                </c:pt>
                <c:pt idx="10">
                  <c:v>99.2</c:v>
                </c:pt>
                <c:pt idx="11">
                  <c:v>99.4</c:v>
                </c:pt>
                <c:pt idx="12">
                  <c:v>99.6</c:v>
                </c:pt>
                <c:pt idx="13">
                  <c:v>99.5</c:v>
                </c:pt>
                <c:pt idx="14">
                  <c:v>99.3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FC7-A04B-986E-8FCBB0709B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Accuracy</c:v>
                </c:pt>
              </c:strCache>
            </c:strRef>
          </c:tx>
          <c:spPr>
            <a:ln w="25400" cap="flat">
              <a:solidFill>
                <a:srgbClr val="E9731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97316"/>
              </a:solidFill>
              <a:ln w="9525" cap="flat">
                <a:solidFill>
                  <a:srgbClr val="E97316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59.6</c:v>
                </c:pt>
                <c:pt idx="1">
                  <c:v>65.599999999999994</c:v>
                </c:pt>
                <c:pt idx="2">
                  <c:v>70.599999999999994</c:v>
                </c:pt>
                <c:pt idx="3">
                  <c:v>67.400000000000006</c:v>
                </c:pt>
                <c:pt idx="4">
                  <c:v>67</c:v>
                </c:pt>
                <c:pt idx="5">
                  <c:v>71.599999999999994</c:v>
                </c:pt>
                <c:pt idx="6">
                  <c:v>72.900000000000006</c:v>
                </c:pt>
                <c:pt idx="7">
                  <c:v>72.5</c:v>
                </c:pt>
                <c:pt idx="8">
                  <c:v>71.599999999999994</c:v>
                </c:pt>
                <c:pt idx="9">
                  <c:v>73.400000000000006</c:v>
                </c:pt>
                <c:pt idx="10">
                  <c:v>71.599999999999994</c:v>
                </c:pt>
                <c:pt idx="11">
                  <c:v>69.3</c:v>
                </c:pt>
                <c:pt idx="12">
                  <c:v>72</c:v>
                </c:pt>
                <c:pt idx="13">
                  <c:v>70.2</c:v>
                </c:pt>
                <c:pt idx="14">
                  <c:v>71.599999999999994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FC7-A04B-986E-8FCBB0709B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ru-KZ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ru-KZ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8204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Акне анықтау жүйесі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9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· Transfer Learning · Grad-CAM Explainability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Бет суреттері арқылы акне ауырлық деңгейін анықтайтын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терең үйренуге негізделген жүйе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14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E6E0"/>
                </a:solidFill>
              </a:rPr>
              <a:t>Python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03120" y="41148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4114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E6E0"/>
                </a:solidFill>
              </a:rPr>
              <a:t>PyTorch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49040" y="41148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4114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E6E0"/>
                </a:solidFill>
              </a:rPr>
              <a:t>Gradio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94960" y="41148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4114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E6E0"/>
                </a:solidFill>
              </a:rPr>
              <a:t>GitHub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Жоба мақсаты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109728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D5A"/>
                </a:solidFill>
              </a:rPr>
              <a:t>🔍  Акне анықтау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Бет суреттерінен акне бар-жоғын автоматты анықтау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28016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80160"/>
            <a:ext cx="109728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D5A"/>
                </a:solidFill>
              </a:rPr>
              <a:t>📊  Ауырлық деңгейі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74920" y="19202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4 деңгейге жіктеу: жеңіл, орташа, ауыр, өте ауыр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71800"/>
            <a:ext cx="109728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54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D5A"/>
                </a:solidFill>
              </a:rPr>
              <a:t>🧠  Explainability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36118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Grad-CAM арқылы модель шешімін визуализациялау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297180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971800"/>
            <a:ext cx="109728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3154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D5A"/>
                </a:solidFill>
              </a:rPr>
              <a:t>💻  Демо қосымша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74920" y="36118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Gradio интерфейсі арқылы нақты суретпен тестілеу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Датасет — ACNE04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92024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618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1,457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E6E0"/>
                </a:solidFill>
              </a:rPr>
              <a:t>Жалпы сурет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50592" y="1188720"/>
            <a:ext cx="192024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12618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50592" y="1828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E6E0"/>
                </a:solidFill>
              </a:rPr>
              <a:t>Класс деңгейі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26864" y="1188720"/>
            <a:ext cx="192024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2618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70/15/15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26864" y="1828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E6E0"/>
                </a:solidFill>
              </a:rPr>
              <a:t>Train/Val/Test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03136" y="1188720"/>
            <a:ext cx="192024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12618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224×224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03136" y="1828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E6E0"/>
                </a:solidFill>
              </a:rPr>
              <a:t>Сурет өлшемі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5A"/>
                </a:solidFill>
              </a:rPr>
              <a:t>Класс бойынша үлестіру: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3063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Level 0 — Жеңіл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51760" y="3108960"/>
            <a:ext cx="50292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51760" y="3108960"/>
            <a:ext cx="4123944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30632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9488"/>
                </a:solidFill>
              </a:rPr>
              <a:t>497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5204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Level 1 — Орташа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51760" y="3566160"/>
            <a:ext cx="50292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51760" y="3566160"/>
            <a:ext cx="50292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35204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9488"/>
                </a:solidFill>
              </a:rPr>
              <a:t>637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977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Level 2 — Ауыр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651760" y="4023360"/>
            <a:ext cx="50292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51760" y="4023360"/>
            <a:ext cx="145846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39776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9488"/>
                </a:solidFill>
              </a:rPr>
              <a:t>186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434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Level 3 — Өте ауыр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651760" y="4480560"/>
            <a:ext cx="50292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51760" y="4480560"/>
            <a:ext cx="1106424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44348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9488"/>
                </a:solidFill>
              </a:rPr>
              <a:t>137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Модель архитектурасы — ResNet-50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920240" cy="10058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61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Кіріс сурет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E6E0"/>
                </a:solidFill>
              </a:rPr>
              <a:t>224×224×3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645920"/>
            <a:ext cx="256032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50592" y="1188720"/>
            <a:ext cx="192024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261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ResNet-50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50592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E6E0"/>
                </a:solidFill>
              </a:rPr>
              <a:t>ImageNet weights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70832" y="1645920"/>
            <a:ext cx="256032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26864" y="1188720"/>
            <a:ext cx="1920240" cy="100584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261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Dropout 0.3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26864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E6E0"/>
                </a:solidFill>
              </a:rPr>
              <a:t>Regularization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47104" y="1645920"/>
            <a:ext cx="256032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03136" y="1188720"/>
            <a:ext cx="192024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1261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FC Layer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03136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E6E0"/>
                </a:solidFill>
              </a:rPr>
              <a:t>→ 4 класс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423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D5A"/>
                </a:solidFill>
              </a:rPr>
              <a:t>Transfer Learning неге тиімді?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" y="292608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✓  </a:t>
            </a:r>
            <a:r>
              <a:rPr lang="en-US" sz="1300" dirty="0">
                <a:solidFill>
                  <a:srgbClr val="0F172A"/>
                </a:solidFill>
              </a:rPr>
              <a:t>ImageNet-те 1.2 млн суретпен алдын ала үйретілген — текстура, шеттер, пішіндерді таниды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338328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✓  </a:t>
            </a:r>
            <a:r>
              <a:rPr lang="en-US" sz="1300" dirty="0">
                <a:solidFill>
                  <a:srgbClr val="0F172A"/>
                </a:solidFill>
              </a:rPr>
              <a:t>Соңғы қабатты ғана өзгерттік: 1000 класс → 4 класс (акне деңгейлері)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384048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✓  </a:t>
            </a:r>
            <a:r>
              <a:rPr lang="en-US" sz="1300" dirty="0">
                <a:solidFill>
                  <a:srgbClr val="0F172A"/>
                </a:solidFill>
              </a:rPr>
              <a:t>Нөлден үйретуге қарағанда аз деректермен жоғары нәтиже береді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429768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✓  </a:t>
            </a:r>
            <a:r>
              <a:rPr lang="en-US" sz="1300" dirty="0">
                <a:solidFill>
                  <a:srgbClr val="0F172A"/>
                </a:solidFill>
              </a:rPr>
              <a:t>Параметр саны: 23.5 миллион — барлығы үйренеді (fine-tuning)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Тренинг нәтижелері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97280"/>
          <a:ext cx="5486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18872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126480" y="1188720"/>
            <a:ext cx="9144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09360" y="1234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5A"/>
                </a:solidFill>
              </a:rPr>
              <a:t>75%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309360" y="16276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Test Accuracy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219456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26480" y="2194560"/>
            <a:ext cx="9144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5A"/>
                </a:solidFill>
              </a:rPr>
              <a:t>15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309360" y="26334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Epoch саны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26480" y="320040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26480" y="3200400"/>
            <a:ext cx="9144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5A"/>
                </a:solidFill>
              </a:rPr>
              <a:t>M1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309360" y="36393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Apple GPU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26480" y="420624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26480" y="4206240"/>
            <a:ext cx="9144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09360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5A"/>
                </a:solidFill>
              </a:rPr>
              <a:t>32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309360" y="46451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Batch size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Модель бағалауы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5029200" cy="30175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Класс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Level 0 — Жеңіл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0.75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0.86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0.80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Level 1 — Орташа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0.76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0.72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0.74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Level 2 — Ауыр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0.62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0.48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0.55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Level 3 — Өте ауыр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0.79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0.88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0.83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D5A"/>
                          </a:solidFill>
                        </a:rPr>
                        <a:t>Жалпы Accuracy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</a:rPr>
                        <a:t>75%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577840" y="1143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5A"/>
                </a:solidFill>
              </a:rPr>
              <a:t>Байқаулар: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577840" y="1645920"/>
            <a:ext cx="3291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" name="Text 4"/>
          <p:cNvSpPr/>
          <p:nvPr/>
        </p:nvSpPr>
        <p:spPr>
          <a:xfrm>
            <a:off x="5669280" y="1691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Level 3 ең жоғары F1 = 0.83 — ауыр акне нақты анықталды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577840" y="2395728"/>
            <a:ext cx="3291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669280" y="24414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Level 2 төмен F1 = 0.55 — деректер саны аз (186 сурет)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577840" y="3145536"/>
            <a:ext cx="3291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669280" y="319125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Imbalanced dataset — негізгі қиындық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77840" y="3895344"/>
            <a:ext cx="3291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669280" y="394106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Overfitting: Train 99% vs Val 73%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Grad-CAM — Explainability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D5A"/>
                </a:solidFill>
              </a:rPr>
              <a:t>Grad-CAM дегеніміз не?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Gradient-weighted Class Activation Mapping — модельдің соңғы conv қабатының градиенттерін есептеп, қай аймақ шешімге ең көп әсер еткенін жылу картасы (heatmap) арқылы көрсетеді.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331720"/>
            <a:ext cx="1920240" cy="68580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331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Кіріс сурет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94560" y="2624328"/>
            <a:ext cx="256032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50592" y="2331720"/>
            <a:ext cx="1920240" cy="68580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2331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ResNet-50 болжамы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0832" y="2624328"/>
            <a:ext cx="256032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26864" y="2331720"/>
            <a:ext cx="1920240" cy="68580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2331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Градиент есептеу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47104" y="2624328"/>
            <a:ext cx="256032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03136" y="2331720"/>
            <a:ext cx="192024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03136" y="2331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Heatmap overlay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5A"/>
                </a:solidFill>
              </a:rPr>
              <a:t>Нәтиже: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5760" y="36576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🔴  Қызыл аймақ — модель назары ең жоғары (акне байқалған жер)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0050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🟡  Сары/жасыл — орташа назар аударылған аймақ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35254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🔵  Көк аймақ — модель назар аудармаған бөлік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4700016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✅  Барлық болжамдар дұрыс — </a:t>
            </a:r>
            <a:r>
              <a:rPr lang="kk-KZ" sz="1300" dirty="0">
                <a:solidFill>
                  <a:srgbClr val="0F172A"/>
                </a:solidFill>
              </a:rPr>
              <a:t>жасыл</a:t>
            </a:r>
            <a:r>
              <a:rPr lang="en-US" sz="1300" dirty="0">
                <a:solidFill>
                  <a:srgbClr val="0F172A"/>
                </a:solidFill>
              </a:rPr>
              <a:t> жазу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Қорытынды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E6E0"/>
                </a:solidFill>
              </a:rPr>
              <a:t>Жасалған жұмыстар: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✓  </a:t>
            </a:r>
            <a:r>
              <a:rPr lang="en-US" sz="1300" dirty="0">
                <a:solidFill>
                  <a:srgbClr val="FFFFFF"/>
                </a:solidFill>
              </a:rPr>
              <a:t>ACNE04 датасеті — 1457 бет суреті, 4 деңгей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219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✓  </a:t>
            </a:r>
            <a:r>
              <a:rPr lang="en-US" sz="1300" dirty="0">
                <a:solidFill>
                  <a:srgbClr val="FFFFFF"/>
                </a:solidFill>
              </a:rPr>
              <a:t>ResNet-50 Transfer Learning — 23.5М параметр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66090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✓  </a:t>
            </a:r>
            <a:r>
              <a:rPr lang="en-US" sz="1300" dirty="0">
                <a:solidFill>
                  <a:srgbClr val="FFFFFF"/>
                </a:solidFill>
              </a:rPr>
              <a:t>Test Accuracy: 75% — медициналық деңгейде қолайлы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09981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✓  </a:t>
            </a:r>
            <a:r>
              <a:rPr lang="en-US" sz="1300" dirty="0">
                <a:solidFill>
                  <a:srgbClr val="FFFFFF"/>
                </a:solidFill>
              </a:rPr>
              <a:t>Grad-CAM — модель шешімін визуализациялады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53872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✓  </a:t>
            </a:r>
            <a:r>
              <a:rPr lang="en-US" sz="1300" dirty="0">
                <a:solidFill>
                  <a:srgbClr val="FFFFFF"/>
                </a:solidFill>
              </a:rPr>
              <a:t>Gradio демо қосымша жасалды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✓  </a:t>
            </a:r>
            <a:r>
              <a:rPr lang="en-US" sz="1300" dirty="0">
                <a:solidFill>
                  <a:srgbClr val="FFFFFF"/>
                </a:solidFill>
              </a:rPr>
              <a:t>GitHub-қа жүктелді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0720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E6E0"/>
                </a:solidFill>
              </a:rPr>
              <a:t>Технологиялар: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760720" y="178308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7830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Python 3.13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60920" y="178308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17830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PyTorch 2.11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60720" y="237744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23774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ResNet-50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60920" y="237744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0920" y="23774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torchcam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297180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29718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Gradio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60920" y="297180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60920" y="29718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GitHub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9E6E0"/>
                </a:solidFill>
              </a:rPr>
              <a:t>github.com/zhannaxi/acne-detection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433</Words>
  <Application>Microsoft Macintosh PowerPoint</Application>
  <PresentationFormat>Экран (16:9)</PresentationFormat>
  <Paragraphs>123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Acne Detection with Grad-CAM</dc:title>
  <dc:subject>PptxGenJS Presentation</dc:subject>
  <dc:creator>PptxGenJS</dc:creator>
  <cp:lastModifiedBy>Microsoft Office User</cp:lastModifiedBy>
  <cp:revision>2</cp:revision>
  <dcterms:created xsi:type="dcterms:W3CDTF">2026-04-19T10:32:45Z</dcterms:created>
  <dcterms:modified xsi:type="dcterms:W3CDTF">2026-04-19T10:38:33Z</dcterms:modified>
</cp:coreProperties>
</file>